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0" y="1371600"/>
            <a:ext cx="2286000" cy="2286000"/>
          </a:xfrm>
          <a:prstGeom prst="ellipse">
            <a:avLst/>
          </a:prstGeom>
          <a:solidFill>
            <a:srgbClr val="00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KA 项目</a:t>
            </a:r>
          </a:p>
          <a:p>
            <a:pPr>
              <a:defRPr sz="5200" b="1">
                <a:solidFill>
                  <a:srgbClr val="FFFFFF"/>
                </a:solidFill>
              </a:defRPr>
            </a:pPr>
            <a:r>
              <a:t>看板汇报</a:t>
            </a:r>
          </a:p>
          <a:p>
            <a:pPr>
              <a:spcBef>
                <a:spcPts val="800"/>
              </a:spcBef>
              <a:defRPr sz="1800">
                <a:solidFill>
                  <a:srgbClr val="99DDCC"/>
                </a:solidFill>
              </a:defRPr>
            </a:pPr>
            <a:r>
              <a:t>2026年7月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10</a:t>
            </a:r>
          </a:p>
          <a:p>
            <a:pPr>
              <a:defRPr sz="1400">
                <a:solidFill>
                  <a:srgbClr val="99DDCC"/>
                </a:solidFill>
              </a:defRPr>
            </a:pPr>
            <a:r>
              <a:t>总项目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14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3</a:t>
            </a:r>
          </a:p>
          <a:p>
            <a:pPr>
              <a:defRPr sz="1400">
                <a:solidFill>
                  <a:srgbClr val="99DDCC"/>
                </a:solidFill>
              </a:defRPr>
            </a:pPr>
            <a:r>
              <a:t>城市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3</a:t>
            </a:r>
          </a:p>
          <a:p>
            <a:pPr>
              <a:defRPr sz="1400">
                <a:solidFill>
                  <a:srgbClr val="99DDCC"/>
                </a:solidFill>
              </a:defRPr>
            </a:pPr>
            <a:r>
              <a:t>跟进人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3035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7</a:t>
            </a:r>
          </a:p>
          <a:p>
            <a:pPr>
              <a:defRPr sz="1400">
                <a:solidFill>
                  <a:srgbClr val="99DDCC"/>
                </a:solidFill>
              </a:defRPr>
            </a:pPr>
            <a:r>
              <a:t>阻塞项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486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项目阶段分布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280160"/>
          <a:ext cx="5760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474720"/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956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0956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956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线索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█1/10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已联系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███3/10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需求确认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████4/10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方案设计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██2/10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POC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0/10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商务谈判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成交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0/10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502920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城市分布</a:t>
            </a:r>
          </a:p>
          <a:p>
            <a:pPr>
              <a:spcBef>
                <a:spcPts val="400"/>
              </a:spcBef>
              <a:defRPr sz="1200">
                <a:solidFill>
                  <a:srgbClr val="888888"/>
                </a:solidFill>
              </a:defRPr>
            </a:pPr>
            <a:r>
              <a:t>  无锡  4个项目  ·  跟进人: 张挺  ·  阻塞: 3个</a:t>
            </a:r>
          </a:p>
          <a:p>
            <a:pPr>
              <a:spcBef>
                <a:spcPts val="400"/>
              </a:spcBef>
              <a:defRPr sz="1200">
                <a:solidFill>
                  <a:srgbClr val="888888"/>
                </a:solidFill>
              </a:defRPr>
            </a:pPr>
            <a:r>
              <a:t>  江门  5个项目  ·  跟进人: 黎琛  ·  阻塞: 4个</a:t>
            </a:r>
          </a:p>
          <a:p>
            <a:pPr>
              <a:spcBef>
                <a:spcPts val="400"/>
              </a:spcBef>
              <a:defRPr sz="1200">
                <a:solidFill>
                  <a:srgbClr val="888888"/>
                </a:solidFill>
              </a:defRPr>
            </a:pPr>
            <a:r>
              <a:t>  佛山  1个项目  ·  跟进人: 齐林  ·  阻塞: 1个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项目详情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solidFill>
            <a:srgbClr val="00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📍 无锡  ·  张挺  ·  4 个项目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212848" cy="50800"/>
          </a:xfrm>
          <a:prstGeom prst="rect">
            <a:avLst/>
          </a:prstGeom>
          <a:solidFill>
            <a:srgbClr val="00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大厨甄选配送中心（本地平台）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线索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2026-07-01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安排1单免费试用，跟进试用反馈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快驴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已联系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2026-06-18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输出夜间（22点-7点）无人车配送费用方案，并寻找快驴总部决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决策人在总部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天惠超市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已联系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2026-06-26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保持联系，待管理层态度变化后再推进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管理层不同意使用无人车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中通快递（华庄店）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1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需求确认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2026-06-09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验证下午14点时段20次使用数据，输出一装多卸方案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一装多卸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795760" y="1051560"/>
            <a:ext cx="11430000" cy="320040"/>
          </a:xfrm>
          <a:prstGeom prst="rect">
            <a:avLst/>
          </a:prstGeom>
          <a:solidFill>
            <a:srgbClr val="00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0" y="10698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📍 江门  ·  黎琛  ·  5 个项目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95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795760" y="1508760"/>
            <a:ext cx="2212848" cy="50800"/>
          </a:xfrm>
          <a:prstGeom prst="rect">
            <a:avLst/>
          </a:prstGeom>
          <a:solidFill>
            <a:srgbClr val="00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05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菜大王（本地平台）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905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23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已联系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05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2026-06-30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输出具体配送方案，约老板白天时间洽谈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081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081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91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多多买菜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91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209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需求确认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91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2026-06-29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输出具体价格及装卸货方案，待一装多卸功能上线后尝试一条路线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运输时间：5:00～11:00，与禁行时段冲突，如果夜间运行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367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367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77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聚量（本地平台）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77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495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需求确认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77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2026-06-17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根据成本核算输出无人车配送方案，约老板进一步洽谈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一装多卸；货损回收；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653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653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763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极兔韵达&amp;中通分拣点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763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781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方案设计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63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2026-06-09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产品上线后联系老板体验，需定制笼子车型以节约卸货成本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一装多卸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939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939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49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圆通&amp;申通分拣点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49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067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方案设计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49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2026-06-05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产品上线后联系老板体验，关注路权进展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一装多卸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225760" y="1051560"/>
            <a:ext cx="11430000" cy="320040"/>
          </a:xfrm>
          <a:prstGeom prst="rect">
            <a:avLst/>
          </a:prstGeom>
          <a:solidFill>
            <a:srgbClr val="00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317200" y="10698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📍 佛山  ·  齐林  ·  1 个项目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225760" y="1508760"/>
            <a:ext cx="221284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3225760" y="1508760"/>
            <a:ext cx="2212848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35488" y="160020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百果园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335488" y="1920240"/>
            <a:ext cx="914400" cy="201168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353776" y="192024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956F"/>
                </a:solidFill>
              </a:defRPr>
            </a:pPr>
            <a:r>
              <a:t>● 需求确认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35488" y="2194560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建联: 2026-06-29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→ 输出装卸货/不装卸货两版报价方案，进一步了解单件配送成本</a:t>
            </a:r>
          </a:p>
          <a:p>
            <a:pPr>
              <a:spcAft>
                <a:spcPts val="200"/>
              </a:spcAft>
              <a:defRPr sz="800">
                <a:solidFill>
                  <a:srgbClr val="888888"/>
                </a:solidFill>
              </a:defRPr>
            </a:pPr>
            <a:r>
              <a:t>⚠ 冷藏车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